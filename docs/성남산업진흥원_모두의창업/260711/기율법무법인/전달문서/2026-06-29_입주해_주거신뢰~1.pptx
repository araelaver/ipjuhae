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28032" cy="6858000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28032" y="0"/>
            <a:ext cx="109728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9202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3749039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서로의 신뢰를 보고
더 안전하게 계약한다.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182112"/>
            <a:ext cx="352044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임대인과 임차인이 검증된 주거 신뢰점수를 기반으로 선택·평가·거래조건을 조율하는 주거 신뢰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096512"/>
            <a:ext cx="3063240" cy="914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32120" y="749808"/>
            <a:ext cx="1645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  <a:r>
              <a:rPr sz="1050" b="1" dirty="0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방향</a:t>
            </a:r>
            <a:r>
              <a:rPr sz="1050" b="1" dirty="0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133856"/>
            <a:ext cx="466344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22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리포트가 본체가 아니라,
플랫폼 안의 검증 모듈입니다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2148840"/>
            <a:ext cx="5349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32120" y="2148840"/>
            <a:ext cx="1005840" cy="53035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5529072" y="2322576"/>
            <a:ext cx="5669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본체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84848" y="2304288"/>
            <a:ext cx="342900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임대인·임차인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양면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endParaRPr sz="100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32120" y="2807208"/>
            <a:ext cx="5349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32120" y="2807208"/>
            <a:ext cx="1005840" cy="53035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6" name="TextBox 15"/>
          <p:cNvSpPr txBox="1"/>
          <p:nvPr/>
        </p:nvSpPr>
        <p:spPr>
          <a:xfrm>
            <a:off x="5529072" y="2971800"/>
            <a:ext cx="5669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84848" y="2980944"/>
            <a:ext cx="342900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상호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신뢰점수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평가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매칭</a:t>
            </a:r>
            <a:endParaRPr sz="100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532120" y="3465576"/>
            <a:ext cx="5349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32120" y="3465576"/>
            <a:ext cx="1005840" cy="53035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5614416" y="3607309"/>
            <a:ext cx="660068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모듈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84848" y="3621024"/>
            <a:ext cx="342900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 접수, 자동수집, 리포트, 스크래핑/API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4123944"/>
            <a:ext cx="5349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2120" y="4123944"/>
            <a:ext cx="1005840" cy="53035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4" name="TextBox 23"/>
          <p:cNvSpPr txBox="1"/>
          <p:nvPr/>
        </p:nvSpPr>
        <p:spPr>
          <a:xfrm>
            <a:off x="5614416" y="4279392"/>
            <a:ext cx="850392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거래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인센티브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84848" y="4279392"/>
            <a:ext cx="342900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 할인, 보증금 조정, 우선 매칭, 공실/연체 감소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4782312"/>
            <a:ext cx="5349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32120" y="4782312"/>
            <a:ext cx="1005840" cy="53035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TextBox 27"/>
          <p:cNvSpPr txBox="1"/>
          <p:nvPr/>
        </p:nvSpPr>
        <p:spPr>
          <a:xfrm>
            <a:off x="5614415" y="4937759"/>
            <a:ext cx="660069" cy="822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84848" y="4937759"/>
            <a:ext cx="342900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사례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중개사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접점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참여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  <a:endParaRPr sz="100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lang="ko-KR" altLang="en-US" sz="850" b="0" dirty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기획 방향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방향을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이렇게</a:t>
            </a:r>
            <a:endParaRPr sz="255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리포트 상품으로 축소한 것이 아니라 플랫폼 검증 기능을 먼저 설명한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378440" cy="475488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997964"/>
            <a:ext cx="46817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잘못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보일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있는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부분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95544" y="2020823"/>
            <a:ext cx="555040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 부분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5477257" y="1874519"/>
            <a:ext cx="45719" cy="237744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350008"/>
            <a:ext cx="103784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" name="TextBox 13"/>
          <p:cNvSpPr txBox="1"/>
          <p:nvPr/>
        </p:nvSpPr>
        <p:spPr>
          <a:xfrm>
            <a:off x="877824" y="2446020"/>
            <a:ext cx="4645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리포트만 하는 서비스처럼 보임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2446020"/>
            <a:ext cx="55138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주거 신뢰 플랫폼 안의 첫 검증 모듈을 리포트로 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25496"/>
            <a:ext cx="10378440" cy="47548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" name="TextBox 16"/>
          <p:cNvSpPr txBox="1"/>
          <p:nvPr/>
        </p:nvSpPr>
        <p:spPr>
          <a:xfrm>
            <a:off x="877824" y="2921508"/>
            <a:ext cx="4645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리포트 1회 결제가 본 상품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2921508"/>
            <a:ext cx="55138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 검증/매출 수단이며 최종 BM은 양면 플랫폼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00984"/>
            <a:ext cx="103784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877824" y="3396996"/>
            <a:ext cx="4645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임대인·주택 리스크만 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3396996"/>
            <a:ext cx="55138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임대인, 임차인, 주택을 모두 검증하고 상호 선택에 활용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76472"/>
            <a:ext cx="10378440" cy="47548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3" name="TextBox 22"/>
          <p:cNvSpPr txBox="1"/>
          <p:nvPr/>
        </p:nvSpPr>
        <p:spPr>
          <a:xfrm>
            <a:off x="877824" y="3872484"/>
            <a:ext cx="4645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점수는 리스크 경고용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3872484"/>
            <a:ext cx="55138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점수는 좋은 거래조건을 만드는 신뢰 신호이자 매칭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플랫폼 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입주해는 주거 신뢰 네트워크입니다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임대인·임차인·주택 데이터가 쌓일수록 선택 비용과 거래 리스크가 줄어드는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2926080" cy="2926080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2176272"/>
            <a:ext cx="8229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743200"/>
            <a:ext cx="173736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본인·재직·소득
계약 이행 가능성
레퍼런스·거주평가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576" y="1828800"/>
            <a:ext cx="292608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1184" y="2176272"/>
            <a:ext cx="1463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주거 신뢰점수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4" y="2670048"/>
            <a:ext cx="182880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77500" lnSpcReduction="20000"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상호 확인
상호 평가
조건 협상
매칭 우선순위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1828800"/>
            <a:ext cx="2926080" cy="2926080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2176272"/>
            <a:ext cx="8229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임대인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743200"/>
            <a:ext cx="173736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77500" lnSpcReduction="20000"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소유·권리관계
관리 대응
계약 이행 신뢰
주택 안전도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03320" y="3218688"/>
            <a:ext cx="868680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65066" y="3218688"/>
            <a:ext cx="868680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5294376"/>
            <a:ext cx="97383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5449824"/>
            <a:ext cx="41148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9888" y="5431536"/>
            <a:ext cx="676656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조건을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받고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빨리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임차인을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만납니다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084" y="5824728"/>
            <a:ext cx="59436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89888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핵심은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리스크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경고가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상호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신뢰를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거래조건으로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바꾸는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플랫폼입니다</a:t>
            </a:r>
            <a:r>
              <a:rPr sz="100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BF6AECFF-EDF5-0331-2C87-3184CAB7E59B}"/>
              </a:ext>
            </a:extLst>
          </p:cNvPr>
          <p:cNvSpPr/>
          <p:nvPr/>
        </p:nvSpPr>
        <p:spPr>
          <a:xfrm>
            <a:off x="672084" y="5289910"/>
            <a:ext cx="59436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양면 사용자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주거 신뢰점수가 양쪽 모두에게 이득을 만들어야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신뢰가 높은 쪽이 실제 거래조건에서 보상받는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972800" cy="3383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883664"/>
            <a:ext cx="1024127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주체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0784" y="1883664"/>
            <a:ext cx="3904487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얻게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되는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이득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72768" y="1783080"/>
            <a:ext cx="45719" cy="2737882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8424" y="1883664"/>
            <a:ext cx="58247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거래조건으로 연결되는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41847" y="1783080"/>
            <a:ext cx="45719" cy="2737882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143522"/>
            <a:ext cx="10972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621792" y="2239534"/>
            <a:ext cx="987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239534"/>
            <a:ext cx="386791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안전한 임대인/주택 선택, 보증금 리스크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2239534"/>
            <a:ext cx="5788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검증된 임차인은 월세 할인, 보증금 조정, 우선 계약 후보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37882"/>
            <a:ext cx="10972800" cy="594360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621792" y="2833894"/>
            <a:ext cx="987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</a:t>
            </a:r>
            <a:endParaRPr sz="1000" b="0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19072" y="2833894"/>
            <a:ext cx="386791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연체·분쟁·공실 리스크 감소, 좋은 임차인 선별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2833894"/>
            <a:ext cx="5788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신뢰도 높은 임대인은 더 많은 지원자, 빠른 계약, 낮은 공실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32242"/>
            <a:ext cx="10972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621792" y="3428254"/>
            <a:ext cx="987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중개/관리자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3428254"/>
            <a:ext cx="386791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설명자료와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확보</a:t>
            </a:r>
            <a:endParaRPr sz="1000" b="0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96712" y="3428254"/>
            <a:ext cx="5788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분쟁 가능성 감소, 표준화된 체크리스트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26602"/>
            <a:ext cx="10972800" cy="594360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621792" y="4022614"/>
            <a:ext cx="987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4022614"/>
            <a:ext cx="386791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데이터가 누적될수록 매칭 품질 증가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4022614"/>
            <a:ext cx="5788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검증, 구독, 중개보조, 제휴 BM 확장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C7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C77423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C7742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03604" y="5971032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할인은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'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인센티브'로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넣고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보증금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계약기간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우선매칭까지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함께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제시해</a:t>
            </a:r>
            <a:r>
              <a:rPr lang="ko-KR" altLang="en-US"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야 합니다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제품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 안에 들어가는 기능을 모듈로 봐야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각 기능은 최종 플랫폼을 만들기 위한 조각입니다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74519"/>
            <a:ext cx="3429000" cy="90525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85152"/>
            <a:ext cx="109728" cy="90525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075688"/>
            <a:ext cx="685800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4" y="2039112"/>
            <a:ext cx="1508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서류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접수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자동수집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/API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OCR·수기검수</a:t>
            </a:r>
            <a:endParaRPr sz="110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0832" y="1874519"/>
            <a:ext cx="3429000" cy="90525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109728" cy="915891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2075688"/>
            <a:ext cx="685800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039112"/>
            <a:ext cx="1508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임대인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Score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Score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주택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1874519"/>
            <a:ext cx="3429000" cy="905257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2" y="1874519"/>
            <a:ext cx="109728" cy="915891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75688"/>
            <a:ext cx="685800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039112"/>
            <a:ext cx="1508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공개범위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동의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노출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정정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삭제</a:t>
            </a:r>
            <a:endParaRPr sz="110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3232" y="3310128"/>
            <a:ext cx="3429000" cy="90525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310128"/>
            <a:ext cx="109728" cy="926524"/>
          </a:xfrm>
          <a:prstGeom prst="rect">
            <a:avLst/>
          </a:prstGeom>
          <a:solidFill>
            <a:srgbClr val="C7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511296"/>
            <a:ext cx="685800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매칭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2224" y="3474720"/>
            <a:ext cx="1508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필터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신뢰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추천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우선순위</a:t>
            </a:r>
            <a:endParaRPr sz="110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70832" y="3310128"/>
            <a:ext cx="3429000" cy="91589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2" y="3320761"/>
            <a:ext cx="109728" cy="915891"/>
          </a:xfrm>
          <a:prstGeom prst="rect">
            <a:avLst/>
          </a:prstGeom>
          <a:solidFill>
            <a:srgbClr val="247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3511296"/>
            <a:ext cx="685800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3474720"/>
            <a:ext cx="1508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후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리뷰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응답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이력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레퍼런스</a:t>
            </a:r>
            <a:endParaRPr sz="110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2" y="3310128"/>
            <a:ext cx="3429000" cy="905257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28432" y="3310128"/>
            <a:ext cx="109728" cy="915891"/>
          </a:xfrm>
          <a:prstGeom prst="rect">
            <a:avLst/>
          </a:prstGeom>
          <a:solidFill>
            <a:srgbClr val="B0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02752" y="3511296"/>
            <a:ext cx="685800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3474720"/>
            <a:ext cx="1508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월세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할인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보증금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조정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  <a:r>
              <a:rPr sz="110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10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주거 신뢰점수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점수는 임대인·임차인·주택을 분리해서 산정합니다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서로 다른 목적의 점수를 하나로 섞으면 법무·사업 메시지가 흐려짐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83080"/>
            <a:ext cx="11018520" cy="6217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883664"/>
            <a:ext cx="12527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1883664"/>
            <a:ext cx="463600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7" y="1783080"/>
            <a:ext cx="45719" cy="310896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883664"/>
            <a:ext cx="49103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상대방에게 주는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7" y="1783080"/>
            <a:ext cx="45719" cy="310896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" y="2404872"/>
            <a:ext cx="110185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585215" y="2500884"/>
            <a:ext cx="1216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신뢰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5" y="2500884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본인, 재직/소득 범위, 계약 이행, 레퍼런스, 플랫폼 활동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5" y="2500884"/>
            <a:ext cx="48737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임대인이 연체·분쟁 위험을 낮추고 좋은 임차인을 선별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026664"/>
            <a:ext cx="11018520" cy="621792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585215" y="3122676"/>
            <a:ext cx="1216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신뢰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1095" y="3122676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소유자 확인, 권리관계, 보증 반환 리스크, 관리 대응, 평가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5" y="3122676"/>
            <a:ext cx="48737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임차인이 안전한 임대인과 계약할 가능성 증가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648456"/>
            <a:ext cx="110185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585215" y="3744468"/>
            <a:ext cx="1216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주택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1095" y="3744468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등기, 건축물대장, 실거래/공시가격, 보증보험 확인항목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5" y="3744468"/>
            <a:ext cx="48737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양쪽이 주택 자체의 위험을 같은 기준으로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270248"/>
            <a:ext cx="11018520" cy="621792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585215" y="4366260"/>
            <a:ext cx="12161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 신뢰도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1095" y="4366260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출처, 기준일, 검수 여부, 동의 범위, 최신성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5" y="4366260"/>
            <a:ext cx="48737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점수가 얼마나 믿을 수 있는지 표시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44168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신뢰점수는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'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상대인가'를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판단하는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신호이고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산정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근거는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반드시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보여줘야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합니다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데이터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부족한 데이터는 플랫폼을 운영하면서 단계적으로 채웁니다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서류 접수는 시작점이고, 동의 기반 자동수집과 평가 데이터가 누적되며 강해짐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993392"/>
            <a:ext cx="2423160" cy="21122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993392"/>
            <a:ext cx="2423160" cy="42062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" name="TextBox 10"/>
          <p:cNvSpPr txBox="1"/>
          <p:nvPr/>
        </p:nvSpPr>
        <p:spPr>
          <a:xfrm>
            <a:off x="969264" y="2139696"/>
            <a:ext cx="54864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 접수/수기검수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273552"/>
            <a:ext cx="16002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등기·건축물·계약조건
실거래/공시가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1993392"/>
            <a:ext cx="2423160" cy="21122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56432" y="1993392"/>
            <a:ext cx="2423160" cy="420624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3639312" y="2139696"/>
            <a:ext cx="54864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724912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동의 기반 자동수집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273552"/>
            <a:ext cx="16002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사용자 동의 후 조회 보조
스크래핑/API 후보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1993392"/>
            <a:ext cx="2423160" cy="21122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79" y="1993392"/>
            <a:ext cx="2423160" cy="420624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1" name="TextBox 20"/>
          <p:cNvSpPr txBox="1"/>
          <p:nvPr/>
        </p:nvSpPr>
        <p:spPr>
          <a:xfrm>
            <a:off x="6309359" y="2139696"/>
            <a:ext cx="54864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724912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 후 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273552"/>
            <a:ext cx="16002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임대인/임차인 상호 평가
레퍼런스·분쟁 이력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96528" y="1993392"/>
            <a:ext cx="2423160" cy="211226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96528" y="1993392"/>
            <a:ext cx="2423160" cy="420624"/>
          </a:xfrm>
          <a:prstGeom prst="rect">
            <a:avLst/>
          </a:prstGeom>
          <a:solidFill>
            <a:srgbClr val="C7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6" name="TextBox 25"/>
          <p:cNvSpPr txBox="1"/>
          <p:nvPr/>
        </p:nvSpPr>
        <p:spPr>
          <a:xfrm>
            <a:off x="8979407" y="2139696"/>
            <a:ext cx="54864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2724912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조건 최적화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7" y="3273552"/>
            <a:ext cx="16002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월세/보증금/계약조건
신뢰 기반 추천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63827" y="5971032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부족하다는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약점은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운영으로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누적되는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전략으로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설명해야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합니다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신뢰 기반 인센티브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 신뢰는 좋은 조건으로 환산되어야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월세 할인은 그중 하나의 예시이고, 보증금·계약기간·우선매칭까지 확장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10881360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1883664"/>
            <a:ext cx="18470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1883664"/>
            <a:ext cx="463600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플랫폼이 보여주는 신호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9736" y="1783080"/>
            <a:ext cx="64008" cy="310896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0336" y="1883664"/>
            <a:ext cx="417880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가능한 거래조건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8896" y="1783080"/>
            <a:ext cx="64008" cy="310896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404872"/>
            <a:ext cx="108813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6" name="TextBox 15"/>
          <p:cNvSpPr txBox="1"/>
          <p:nvPr/>
        </p:nvSpPr>
        <p:spPr>
          <a:xfrm>
            <a:off x="649224" y="2500884"/>
            <a:ext cx="1810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점수가 높음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2500884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재직/소득 안정, 레퍼런스 양호, 계약 이행 신뢰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2500884"/>
            <a:ext cx="41422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 할인, 보증금 완화, 우선 계약 후보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26664"/>
            <a:ext cx="10881360" cy="621792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649224" y="3122676"/>
            <a:ext cx="1810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점수가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3122676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소유/권리 안정, 관리 대응 좋음, 평가 양호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3122676"/>
            <a:ext cx="41422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더 많은 지원자, 빠른 계약, 낮은 공실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648456"/>
            <a:ext cx="108813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4" name="TextBox 23"/>
          <p:cNvSpPr txBox="1"/>
          <p:nvPr/>
        </p:nvSpPr>
        <p:spPr>
          <a:xfrm>
            <a:off x="649224" y="3744468"/>
            <a:ext cx="1810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주택 Risk 낮음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3744468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등기·건축물·가격·보증 확인 안정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3744468"/>
            <a:ext cx="41422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불안 감소, 중개 설득자료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270248"/>
            <a:ext cx="10881360" cy="621792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TextBox 27"/>
          <p:cNvSpPr txBox="1"/>
          <p:nvPr/>
        </p:nvSpPr>
        <p:spPr>
          <a:xfrm>
            <a:off x="649224" y="4366260"/>
            <a:ext cx="1810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양쪽 점수 모두 높음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9464" y="4366260"/>
            <a:ext cx="45994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 리스크와 분쟁 가능성 낮음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4366260"/>
            <a:ext cx="41422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장기계약, 갱신 우대, 플랫폼 추천 상위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C7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C77423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C7742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63827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장이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돈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되는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이유입니다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신뢰점수가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거래조건에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영향을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줘야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합니다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초기 MVP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MVP도 플랫폼 방향을 잃지 않아야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처음부터 모든 걸 만들지는 않지만, 첫 기능은 플랫폼 데이터로 쌓여야 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104120" cy="502920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859536" y="1929384"/>
            <a:ext cx="381304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MVP에서 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1929384"/>
            <a:ext cx="61447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플랫폼으로 이어지는 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4296" y="1828800"/>
            <a:ext cx="64008" cy="301752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101041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" name="TextBox 13"/>
          <p:cNvSpPr txBox="1"/>
          <p:nvPr/>
        </p:nvSpPr>
        <p:spPr>
          <a:xfrm>
            <a:off x="877824" y="2427732"/>
            <a:ext cx="3776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신뢰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427732"/>
            <a:ext cx="6108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임대인이 임차인을 판단하는 첫 신뢰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34640"/>
            <a:ext cx="10104120" cy="502920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" name="TextBox 16"/>
          <p:cNvSpPr txBox="1"/>
          <p:nvPr/>
        </p:nvSpPr>
        <p:spPr>
          <a:xfrm>
            <a:off x="877824" y="2930652"/>
            <a:ext cx="3776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임대인/주택 검증 리포트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930652"/>
            <a:ext cx="6108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임차인이 안전한 계약 상대와 주택을 고르는 데이터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37560"/>
            <a:ext cx="101041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877824" y="3433572"/>
            <a:ext cx="3776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상호 평가/레퍼런스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4024" y="3433572"/>
            <a:ext cx="6108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 후 신뢰 데이터가 다음 매칭 품질을 높임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40480"/>
            <a:ext cx="10104120" cy="502920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3" name="TextBox 22"/>
          <p:cNvSpPr txBox="1"/>
          <p:nvPr/>
        </p:nvSpPr>
        <p:spPr>
          <a:xfrm>
            <a:off x="877824" y="3936492"/>
            <a:ext cx="3776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동의 기반 자료수집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4" y="3936492"/>
            <a:ext cx="6108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사용자 동의와 출처 기반 검증값이 점수 모델의 원천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43400"/>
            <a:ext cx="101041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6" name="TextBox 25"/>
          <p:cNvSpPr txBox="1"/>
          <p:nvPr/>
        </p:nvSpPr>
        <p:spPr>
          <a:xfrm>
            <a:off x="877824" y="4439412"/>
            <a:ext cx="3776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관리자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검수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콘솔</a:t>
            </a:r>
            <a:endParaRPr sz="1000" b="0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64024" y="4439412"/>
            <a:ext cx="6108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자동화 전 단계에서 데이터 품질을 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7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3827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MVP는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리포트로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끝나는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데이터베이스를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만드는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출발점입니다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수익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BM도 리포트 1회 결제로 끝나면 안 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플랫폼이 커질수록 반복 매출과 제휴 매출이 붙어야 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10378440" cy="50292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749808" y="1883664"/>
            <a:ext cx="9326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883664"/>
            <a:ext cx="267004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4208" y="1783080"/>
            <a:ext cx="64008" cy="301752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883664"/>
            <a:ext cx="655624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1783080"/>
            <a:ext cx="45720" cy="301752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2286000"/>
            <a:ext cx="10378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768096" y="2382012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3936" y="2382012"/>
            <a:ext cx="2633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검증/리포트 결제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382012"/>
            <a:ext cx="65196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 데이터 확보와 가격 수용성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788920"/>
            <a:ext cx="10378440" cy="502920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768096" y="2884932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성장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2884932"/>
            <a:ext cx="2633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임대인/중개사 구독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884932"/>
            <a:ext cx="65196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신뢰도 높은 임차인 조회, 매칭, 메시지, 검증 요청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291840"/>
            <a:ext cx="10378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768096" y="3387852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3936" y="3387852"/>
            <a:ext cx="2633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추천/중개보조 수수료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387852"/>
            <a:ext cx="65196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 기반 매칭이 실제 계약으로 이어질 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794760"/>
            <a:ext cx="10378440" cy="502920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768096" y="3890772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제휴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3890772"/>
            <a:ext cx="2633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보증보험/금융/관리 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3890772"/>
            <a:ext cx="65196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 데이터 기반 제휴 전환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297680"/>
            <a:ext cx="10378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768096" y="4393692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6" y="4393692"/>
            <a:ext cx="26334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시장 리포트/B2B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393692"/>
            <a:ext cx="65196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개인 식별 제거 후 지역·유형별 리스크 인사이트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63827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결제는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수단이고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최종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BM은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양면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사용에서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나옵니다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 dirty="0" err="1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850" b="0" dirty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50" b="0" dirty="0" err="1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개발</a:t>
            </a:r>
            <a:r>
              <a:rPr sz="850" b="0" dirty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50" b="0" dirty="0" err="1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  <a:endParaRPr sz="850" b="0" dirty="0">
              <a:solidFill>
                <a:srgbClr val="707A8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개발상태</a:t>
            </a:r>
            <a:r>
              <a:rPr lang="ko-KR" altLang="en-US"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는 골격만 있는 상태</a:t>
            </a:r>
            <a:endParaRPr sz="255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108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코드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기반은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단순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리포트보다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골격에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가깝습니다</a:t>
            </a:r>
            <a:endParaRPr sz="108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8368" y="2194560"/>
            <a:ext cx="10424159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9" name="TextBox 28"/>
          <p:cNvSpPr txBox="1"/>
          <p:nvPr/>
        </p:nvSpPr>
        <p:spPr>
          <a:xfrm>
            <a:off x="713232" y="2290572"/>
            <a:ext cx="4965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프로필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인증관리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레퍼런스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주거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신뢰점수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2290572"/>
            <a:ext cx="5239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공개범위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조회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  <a:r>
              <a:rPr sz="1000" b="0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흐름</a:t>
            </a:r>
            <a:endParaRPr sz="1000" b="0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58368" y="2542032"/>
            <a:ext cx="10424159" cy="347472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713232" y="2638044"/>
            <a:ext cx="4965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대시보드, 매물, 세입자, 통계, 메시지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2638044"/>
            <a:ext cx="5239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주거 신뢰점수, 주택 검증, 조건 협상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889504"/>
            <a:ext cx="10424159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5" name="TextBox 34"/>
          <p:cNvSpPr txBox="1"/>
          <p:nvPr/>
        </p:nvSpPr>
        <p:spPr>
          <a:xfrm>
            <a:off x="713232" y="2985516"/>
            <a:ext cx="4965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관리자 사용자/문서/통계/대기자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88152" y="2985516"/>
            <a:ext cx="5239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검수 콘솔, 평가 분쟁관리, 접근로그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236976"/>
            <a:ext cx="10424159" cy="347472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8" name="TextBox 37"/>
          <p:cNvSpPr txBox="1"/>
          <p:nvPr/>
        </p:nvSpPr>
        <p:spPr>
          <a:xfrm>
            <a:off x="713232" y="3332988"/>
            <a:ext cx="4965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결제/구독 기반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8152" y="3332988"/>
            <a:ext cx="5239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 결제, 임대인 구독, 제휴 전환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63827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프로젝트는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골격</a:t>
            </a:r>
            <a:r>
              <a:rPr lang="ko-KR" altLang="en-US"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만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있</a:t>
            </a:r>
            <a:r>
              <a:rPr lang="ko-KR" altLang="en-US"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는 상태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상세 기능은 설계 진행</a:t>
            </a:r>
            <a:endParaRPr sz="105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" y="1847088"/>
            <a:ext cx="10424159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TextBox 25"/>
          <p:cNvSpPr txBox="1"/>
          <p:nvPr/>
        </p:nvSpPr>
        <p:spPr>
          <a:xfrm>
            <a:off x="-714028" y="1923855"/>
            <a:ext cx="52760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할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  <a:r>
              <a:rPr lang="en-US" altLang="ko-KR"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향후 필요 사항 </a:t>
            </a:r>
            <a:r>
              <a:rPr lang="ko-KR" altLang="en-US"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검토중</a:t>
            </a:r>
            <a:r>
              <a:rPr lang="en-US" altLang="ko-KR"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개발 우선순위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개발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우선순위는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데이터가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쌓이는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순서로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잡습니다</a:t>
            </a:r>
            <a:endParaRPr sz="255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리포트 엔진은 독립 목적이 아니라 주거 신뢰점수 산정 엔진의 일부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10789920" cy="475488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1837943"/>
            <a:ext cx="5669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1837943"/>
            <a:ext cx="29900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 과업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9576" y="1737360"/>
            <a:ext cx="64008" cy="332841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1837943"/>
            <a:ext cx="701344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플랫폼 관점 완료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737360"/>
            <a:ext cx="64008" cy="332841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212848"/>
            <a:ext cx="107899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308860"/>
            <a:ext cx="530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9304" y="2308860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신뢰 Profile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308860"/>
            <a:ext cx="6976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임대인이 볼 수 있는 동의 기반 공개 프로필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688336"/>
            <a:ext cx="10789920" cy="47548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649224" y="2784348"/>
            <a:ext cx="530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4" y="2784348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임대인/주택 검증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784348"/>
            <a:ext cx="6976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소유·권리·주택·가격 데이터를 점수/등급으로 분리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163824"/>
            <a:ext cx="107899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649224" y="3259836"/>
            <a:ext cx="530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" y="3259836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상호 평가/레퍼런스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4" y="3259836"/>
            <a:ext cx="6976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전후 평가 데이터가 누적되는 구조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639312"/>
            <a:ext cx="10789920" cy="47548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649224" y="3735324"/>
            <a:ext cx="530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3735324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자료 제출/자동수집 커넥터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3735324"/>
            <a:ext cx="6976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 업로드, OCR, 동의 기반 조회 후보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114800"/>
            <a:ext cx="107899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649224" y="4210812"/>
            <a:ext cx="530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304" y="4210812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매칭/조건 협상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4210812"/>
            <a:ext cx="6976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 기반 필터, 월세/보증금/우선매칭 실험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90288"/>
            <a:ext cx="10789920" cy="47548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6" name="TextBox 35"/>
          <p:cNvSpPr txBox="1"/>
          <p:nvPr/>
        </p:nvSpPr>
        <p:spPr>
          <a:xfrm>
            <a:off x="649224" y="4686300"/>
            <a:ext cx="530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9304" y="4686300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관리자 검수/감사로그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2544" y="4686300"/>
            <a:ext cx="6976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 신뢰도와 개인정보 열람 이력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r>
              <a:rPr lang="ko-KR" altLang="en-US" sz="2550" b="1" dirty="0">
                <a:latin typeface="Apple SD Gothic Neo"/>
                <a:ea typeface="Apple SD Gothic Neo"/>
                <a:cs typeface="Apple SD Gothic Neo"/>
              </a:rPr>
              <a:t>첫 고객과 반복 사용 흐름을 이렇게 잡습니다</a:t>
            </a:r>
            <a:endParaRPr sz="2550" b="1" dirty="0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임차인 수요에서 시작해 중개사·임대인 공급으로 확장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005840" cy="43891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1078992" y="1952242"/>
            <a:ext cx="521208" cy="1188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첫</a:t>
            </a:r>
            <a:r>
              <a:rPr sz="1100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고객</a:t>
            </a:r>
            <a:endParaRPr sz="1100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84831" y="1828800"/>
            <a:ext cx="85496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331720" y="1965960"/>
            <a:ext cx="704088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전 불안이 큰 임차인을 첫 사용자로 잡고, 서류 기반 검증 사례를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487168"/>
            <a:ext cx="1005840" cy="43891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4" name="TextBox 13"/>
          <p:cNvSpPr txBox="1"/>
          <p:nvPr/>
        </p:nvSpPr>
        <p:spPr>
          <a:xfrm>
            <a:off x="996589" y="2598061"/>
            <a:ext cx="686013" cy="11887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공급</a:t>
            </a:r>
            <a:r>
              <a:rPr sz="1100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  <a:endParaRPr sz="1100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84831" y="2487168"/>
            <a:ext cx="85496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2331720" y="2624327"/>
            <a:ext cx="704088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 사례를 근거로 임대인 신뢰 프로필과 조건 우대 구조를 제안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145535"/>
            <a:ext cx="1005840" cy="43891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/>
          <p:cNvSpPr txBox="1"/>
          <p:nvPr/>
        </p:nvSpPr>
        <p:spPr>
          <a:xfrm>
            <a:off x="993399" y="3266319"/>
            <a:ext cx="795528" cy="1188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  <a:r>
              <a:rPr sz="1100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  <a:endParaRPr sz="1100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84831" y="3145535"/>
            <a:ext cx="85496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2331720" y="3282695"/>
            <a:ext cx="704088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초기에는 OCR·수기검수, 이후 동의 기반 조회·제휴 데이터로 자동화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803903"/>
            <a:ext cx="1005840" cy="43891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2" name="TextBox 21"/>
          <p:cNvSpPr txBox="1"/>
          <p:nvPr/>
        </p:nvSpPr>
        <p:spPr>
          <a:xfrm>
            <a:off x="993399" y="3916181"/>
            <a:ext cx="686012" cy="14630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수익</a:t>
            </a:r>
            <a:r>
              <a:rPr sz="1100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전환</a:t>
            </a:r>
            <a:endParaRPr sz="1100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084831" y="3803903"/>
            <a:ext cx="85496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2331720" y="3941063"/>
            <a:ext cx="704088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 리포트/검증 결제에서 중개사·임대인 구독과 매칭 수익으로 확장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462271"/>
            <a:ext cx="1005840" cy="43891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TextBox 25"/>
          <p:cNvSpPr txBox="1"/>
          <p:nvPr/>
        </p:nvSpPr>
        <p:spPr>
          <a:xfrm>
            <a:off x="1001268" y="4572000"/>
            <a:ext cx="686012" cy="17373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실증</a:t>
            </a:r>
            <a:r>
              <a:rPr sz="1100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자료</a:t>
            </a:r>
            <a:endParaRPr sz="1100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084831" y="4462271"/>
            <a:ext cx="85496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2331720" y="4599431"/>
            <a:ext cx="704088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7~8월에는 실제 상담 사례, 샘플 리포트, 데이터 처리 화면, 사용자 피드백을 증거로 확보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F192C7-63DB-44FD-BBB7-DB6287C91DF1}"/>
              </a:ext>
            </a:extLst>
          </p:cNvPr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lang="ko-KR" altLang="en-US" sz="850" b="0" dirty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초기 실행 전략</a:t>
            </a:r>
            <a:endParaRPr sz="850" b="0" dirty="0">
              <a:solidFill>
                <a:srgbClr val="707A8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실행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7~8월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산출물은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플랫폼성을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증명</a:t>
            </a:r>
            <a:r>
              <a:rPr lang="ko-KR" altLang="en-US"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합니다</a:t>
            </a:r>
            <a:endParaRPr sz="255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좋은 자료가 아니라 플랫폼 가설을 검증한 증거가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744595"/>
            <a:ext cx="10652760" cy="5120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512064" y="1845179"/>
            <a:ext cx="7955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1845179"/>
            <a:ext cx="29900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해야 할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4168" y="1744595"/>
            <a:ext cx="9144" cy="3584448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3984" y="1845179"/>
            <a:ext cx="358444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남길 산출물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744595"/>
            <a:ext cx="9144" cy="3584448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1583" y="1845179"/>
            <a:ext cx="29900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증명하는 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744595"/>
            <a:ext cx="9144" cy="3584448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2256659"/>
            <a:ext cx="10652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" name="TextBox 17"/>
          <p:cNvSpPr txBox="1"/>
          <p:nvPr/>
        </p:nvSpPr>
        <p:spPr>
          <a:xfrm>
            <a:off x="530352" y="2352671"/>
            <a:ext cx="758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7월 1주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2352671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멘토 미팅, 플랫폼 방향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352671"/>
            <a:ext cx="3547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v2.8 반영본, 회의록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352671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성실성/방향성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768723"/>
            <a:ext cx="10652760" cy="512064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3" name="TextBox 22"/>
          <p:cNvSpPr txBox="1"/>
          <p:nvPr/>
        </p:nvSpPr>
        <p:spPr>
          <a:xfrm>
            <a:off x="530352" y="2864735"/>
            <a:ext cx="758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7월 2주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2864735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법무/IP 상담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864735"/>
            <a:ext cx="3547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동의/점수/평가 질의서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864735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리스크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3280787"/>
            <a:ext cx="10652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530352" y="3376799"/>
            <a:ext cx="758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7월 3주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3376799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임대인·임차인 점수표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3376799"/>
            <a:ext cx="3547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양쪽 Score 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3376799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 구조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3792851"/>
            <a:ext cx="10652760" cy="512064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3" name="TextBox 32"/>
          <p:cNvSpPr txBox="1"/>
          <p:nvPr/>
        </p:nvSpPr>
        <p:spPr>
          <a:xfrm>
            <a:off x="530352" y="3888863"/>
            <a:ext cx="758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7월 4주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3888863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샘플 매칭/조건 시나리오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3888863"/>
            <a:ext cx="3547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월세할인/우선매칭 예시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3888863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사업성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4304915"/>
            <a:ext cx="106527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8" name="TextBox 37"/>
          <p:cNvSpPr txBox="1"/>
          <p:nvPr/>
        </p:nvSpPr>
        <p:spPr>
          <a:xfrm>
            <a:off x="530352" y="4400927"/>
            <a:ext cx="758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8월 1~2주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2" y="4400927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고객 인터뷰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400927"/>
            <a:ext cx="3547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임대인/임차인 반응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2" y="4400927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성장성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4816979"/>
            <a:ext cx="10652760" cy="512064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3" name="TextBox 42"/>
          <p:cNvSpPr txBox="1"/>
          <p:nvPr/>
        </p:nvSpPr>
        <p:spPr>
          <a:xfrm>
            <a:off x="530352" y="4912991"/>
            <a:ext cx="758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8월 3~4주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9032" y="4912991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2R 발표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4912991"/>
            <a:ext cx="35478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 로드맵/증빙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4912991"/>
            <a:ext cx="29535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우수성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1280160"/>
            <a:ext cx="56692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입주해는 리포트 서비스가 아니라
주거 신뢰 플랫폼입니다.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3" y="2788920"/>
            <a:ext cx="7432583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서류검증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자동수집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스크래핑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리포트는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플랫폼의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주거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신뢰점수를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만드는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하위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모듈입니다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endParaRPr lang="en-US" sz="1500" b="0" dirty="0">
              <a:solidFill>
                <a:srgbClr val="CBF1E8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Aft>
                <a:spcPts val="0"/>
              </a:spcAft>
            </a:pP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최종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가치는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임대인과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임차인이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서로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신뢰를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확인하고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거래조건을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만드는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데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있습니다</a:t>
            </a:r>
            <a:r>
              <a:rPr sz="1500" b="0" dirty="0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4206240" cy="420624"/>
          </a:xfrm>
          <a:prstGeom prst="rect">
            <a:avLst/>
          </a:prstGeom>
          <a:solidFill>
            <a:srgbClr val="0F2638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" y="4096512"/>
            <a:ext cx="566928" cy="731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endParaRPr sz="1100" b="1" dirty="0">
              <a:solidFill>
                <a:srgbClr val="CBF1E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4519" y="4096511"/>
            <a:ext cx="219456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임대인·임차인</a:t>
            </a:r>
            <a:r>
              <a:rPr sz="1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상호</a:t>
            </a:r>
            <a:r>
              <a:rPr sz="1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주거</a:t>
            </a:r>
            <a:r>
              <a:rPr sz="1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신뢰점수</a:t>
            </a:r>
            <a:endParaRPr sz="10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1248" y="4544568"/>
            <a:ext cx="4206240" cy="420624"/>
          </a:xfrm>
          <a:prstGeom prst="rect">
            <a:avLst/>
          </a:prstGeom>
          <a:solidFill>
            <a:srgbClr val="0F2638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4420" y="4663440"/>
            <a:ext cx="566928" cy="731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  <a:endParaRPr sz="1100" b="1" dirty="0">
              <a:solidFill>
                <a:srgbClr val="CBF1E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74519" y="4663440"/>
            <a:ext cx="219456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동의</a:t>
            </a:r>
            <a:r>
              <a:rPr sz="1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검증·자동수집·평가</a:t>
            </a:r>
            <a:r>
              <a:rPr sz="1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누적</a:t>
            </a:r>
            <a:endParaRPr sz="10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1248" y="5111496"/>
            <a:ext cx="4206240" cy="420624"/>
          </a:xfrm>
          <a:prstGeom prst="rect">
            <a:avLst/>
          </a:prstGeom>
          <a:solidFill>
            <a:srgbClr val="0F2638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4420" y="5230368"/>
            <a:ext cx="566928" cy="731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거래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230368"/>
            <a:ext cx="219456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월세 할인·보증금 조정·우선매칭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678424"/>
            <a:ext cx="4206240" cy="420624"/>
          </a:xfrm>
          <a:prstGeom prst="rect">
            <a:avLst/>
          </a:prstGeom>
          <a:solidFill>
            <a:srgbClr val="0F2638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4420" y="5797296"/>
            <a:ext cx="566928" cy="731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BF1E8"/>
                </a:solidFill>
                <a:latin typeface="Apple SD Gothic Neo"/>
                <a:ea typeface="Apple SD Gothic Neo"/>
                <a:cs typeface="Apple SD Gothic Neo"/>
              </a:rPr>
              <a:t>성장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797296"/>
            <a:ext cx="2194560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 → 매칭 → 구독/제휴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데이터 수집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7" y="960120"/>
            <a:ext cx="9921027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초기에는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업로드와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OCR,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이후에는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동의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자동수집으로</a:t>
            </a:r>
            <a:r>
              <a:rPr sz="25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갑니다</a:t>
            </a:r>
            <a:endParaRPr sz="2550" b="1" dirty="0">
              <a:solidFill>
                <a:srgbClr val="0C121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데이터 수집 방식은 플랫폼 단계에 따라 바뀌지만, 목적은 주거 신뢰점수 산정으로 동일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47088"/>
            <a:ext cx="2697480" cy="2788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847088"/>
            <a:ext cx="2697480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993392"/>
            <a:ext cx="82296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초기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96896"/>
            <a:ext cx="150876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127248"/>
            <a:ext cx="2532888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임대인·임차인·중개사가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필요한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서류를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업로드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OCR로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추출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후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수기검수</a:t>
            </a:r>
            <a:endParaRPr sz="108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83280" y="1847088"/>
            <a:ext cx="2697480" cy="2788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847088"/>
            <a:ext cx="2697480" cy="402336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1993392"/>
            <a:ext cx="82296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 고도화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596896"/>
            <a:ext cx="150876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OCR + 검수 콘솔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127248"/>
            <a:ext cx="2532888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등기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건축물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계약조건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재직·소득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범위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추출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기준일·출처·검수자·수정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이력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  <a:endParaRPr sz="108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36208" y="1847088"/>
            <a:ext cx="2697480" cy="2788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1847088"/>
            <a:ext cx="2697480" cy="402336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993392"/>
            <a:ext cx="82296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확장 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96896"/>
            <a:ext cx="150876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동의 기반 스크래핑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27248"/>
            <a:ext cx="2487168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동의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후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출처별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조회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다운로드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보조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자격증명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미저장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약관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/API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허용범위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  <a:endParaRPr sz="108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89136" y="1847088"/>
            <a:ext cx="2697480" cy="2788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89136" y="1847088"/>
            <a:ext cx="2697480" cy="402336"/>
          </a:xfrm>
          <a:prstGeom prst="rect">
            <a:avLst/>
          </a:prstGeom>
          <a:solidFill>
            <a:srgbClr val="C7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53728" y="1993392"/>
            <a:ext cx="822960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장기 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596896"/>
            <a:ext cx="150876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API·제휴 연동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127248"/>
            <a:ext cx="2532888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공식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API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또는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기관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민간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제휴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
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최신성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대량</a:t>
            </a:r>
            <a:r>
              <a:rPr sz="108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8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처리</a:t>
            </a:r>
            <a:endParaRPr sz="108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1600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수집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방식이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수동이어도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검증값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구조를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제대로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잡으면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이후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자동수집으로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자연스럽게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확장됩니다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B07989B1-9A5A-7591-483C-C7C38FCDA454}"/>
              </a:ext>
            </a:extLst>
          </p:cNvPr>
          <p:cNvSpPr/>
          <p:nvPr/>
        </p:nvSpPr>
        <p:spPr>
          <a:xfrm>
            <a:off x="655320" y="5330952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32">
            <a:extLst>
              <a:ext uri="{FF2B5EF4-FFF2-40B4-BE49-F238E27FC236}">
                <a16:creationId xmlns:a16="http://schemas.microsoft.com/office/drawing/2014/main" id="{DE6DC0C9-E320-3169-AC43-35CCF2DC3AF6}"/>
              </a:ext>
            </a:extLst>
          </p:cNvPr>
          <p:cNvSpPr/>
          <p:nvPr/>
        </p:nvSpPr>
        <p:spPr>
          <a:xfrm>
            <a:off x="655320" y="5330952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24B07E-6197-6CF0-3D71-E896F6D233BD}"/>
              </a:ext>
            </a:extLst>
          </p:cNvPr>
          <p:cNvSpPr txBox="1"/>
          <p:nvPr/>
        </p:nvSpPr>
        <p:spPr>
          <a:xfrm>
            <a:off x="874776" y="5458968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04E3A8-7FC4-A074-AF76-D6FC8A7477B2}"/>
              </a:ext>
            </a:extLst>
          </p:cNvPr>
          <p:cNvSpPr txBox="1"/>
          <p:nvPr/>
        </p:nvSpPr>
        <p:spPr>
          <a:xfrm>
            <a:off x="1368552" y="5458968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r>
              <a:rPr lang="en" altLang="ko-KR" sz="1050" b="1" dirty="0">
                <a:latin typeface="Apple SD Gothic Neo"/>
                <a:ea typeface="Apple SD Gothic Neo"/>
                <a:cs typeface="Apple SD Gothic Neo"/>
              </a:rPr>
              <a:t>OCR</a:t>
            </a:r>
            <a:r>
              <a:rPr lang="ko-KR" altLang="en-US" sz="1050" b="1" dirty="0">
                <a:latin typeface="Apple SD Gothic Neo"/>
                <a:ea typeface="Apple SD Gothic Neo"/>
                <a:cs typeface="Apple SD Gothic Neo"/>
              </a:rPr>
              <a:t>과 </a:t>
            </a:r>
            <a:r>
              <a:rPr lang="ko-KR" altLang="en-US" sz="1050" b="1" dirty="0" err="1">
                <a:latin typeface="Apple SD Gothic Neo"/>
                <a:ea typeface="Apple SD Gothic Neo"/>
                <a:cs typeface="Apple SD Gothic Neo"/>
              </a:rPr>
              <a:t>스크래핑은</a:t>
            </a:r>
            <a:r>
              <a:rPr lang="ko-KR" altLang="en-US" sz="1050" b="1" dirty="0">
                <a:latin typeface="Apple SD Gothic Neo"/>
                <a:ea typeface="Apple SD Gothic Neo"/>
                <a:cs typeface="Apple SD Gothic Neo"/>
              </a:rPr>
              <a:t> 별도 서비스가 아니라 주거 신뢰점수 데이터 파이프라인의 단계별 수집 방식입니다</a:t>
            </a:r>
            <a:r>
              <a:rPr lang="en-US" altLang="ko-KR" sz="1050" b="1" dirty="0"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서류 기반 점수화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서류는 파일로 끝나지 않고 검증값으로 바뀌어야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업로드 문서에서 주거 신뢰점수 산정에 필요한 필드만 추출·검수·저장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201168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267712"/>
            <a:ext cx="11430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1.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8" y="2788920"/>
            <a:ext cx="1691641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등기부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건축물대장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계약조건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
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재직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소득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증빙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레퍼런스</a:t>
            </a:r>
            <a:endParaRPr sz="105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063240"/>
            <a:ext cx="274320" cy="0"/>
          </a:xfrm>
          <a:prstGeom prst="line">
            <a:avLst/>
          </a:prstGeom>
          <a:ln w="152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80360" y="1993392"/>
            <a:ext cx="201168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267712"/>
            <a:ext cx="11430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2. OCR 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88920"/>
            <a:ext cx="169164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소유자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주소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면적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채권최고액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
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사용승인일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소득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범위</a:t>
            </a:r>
            <a:r>
              <a:rPr sz="1050" b="0" dirty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등</a:t>
            </a:r>
            <a:endParaRPr sz="1050" b="0" dirty="0">
              <a:solidFill>
                <a:srgbClr val="4A556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3063240"/>
            <a:ext cx="274320" cy="0"/>
          </a:xfrm>
          <a:prstGeom prst="line">
            <a:avLst/>
          </a:prstGeom>
          <a:ln w="152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20640" y="1993392"/>
            <a:ext cx="201168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267712"/>
            <a:ext cx="11430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3. 정합성 검수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788920"/>
            <a:ext cx="146304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주소/소유자/기준일 매칭,
누락·불일치 확인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3063240"/>
            <a:ext cx="274320" cy="0"/>
          </a:xfrm>
          <a:prstGeom prst="line">
            <a:avLst/>
          </a:prstGeom>
          <a:ln w="152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1993392"/>
            <a:ext cx="201168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2267712"/>
            <a:ext cx="11430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4. 검증값 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788920"/>
            <a:ext cx="146304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원본 최소 보관,
출처·기준일·검수자 기록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72600" y="3063240"/>
            <a:ext cx="274320" cy="0"/>
          </a:xfrm>
          <a:prstGeom prst="line">
            <a:avLst/>
          </a:prstGeom>
          <a:ln w="152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01200" y="1993392"/>
            <a:ext cx="201168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2267712"/>
            <a:ext cx="11430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5. Score 반영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46304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임대인 신뢰, 임차인 신뢰,
주택 Risk, 데이터 신뢰도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25696"/>
            <a:ext cx="10332720" cy="292608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9" name="TextBox 28"/>
          <p:cNvSpPr txBox="1"/>
          <p:nvPr/>
        </p:nvSpPr>
        <p:spPr>
          <a:xfrm>
            <a:off x="676656" y="4526280"/>
            <a:ext cx="518464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저장 중심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4456" y="4526280"/>
            <a:ext cx="50017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최소화/주의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4425696"/>
            <a:ext cx="9144" cy="877824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2" name="Rectangle 31"/>
          <p:cNvSpPr/>
          <p:nvPr/>
        </p:nvSpPr>
        <p:spPr>
          <a:xfrm>
            <a:off x="640080" y="4718304"/>
            <a:ext cx="10332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3" name="TextBox 32"/>
          <p:cNvSpPr txBox="1"/>
          <p:nvPr/>
        </p:nvSpPr>
        <p:spPr>
          <a:xfrm>
            <a:off x="694944" y="4814316"/>
            <a:ext cx="51480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검증값, 기준일, 출처, OCR confidence, 검수자, 변경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52744" y="4814316"/>
            <a:ext cx="4965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주민번호, 계좌, 원본 장기보관, 동의 범위 외 재사용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10912"/>
            <a:ext cx="10332720" cy="29260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6" name="TextBox 35"/>
          <p:cNvSpPr txBox="1"/>
          <p:nvPr/>
        </p:nvSpPr>
        <p:spPr>
          <a:xfrm>
            <a:off x="694944" y="5106924"/>
            <a:ext cx="514807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문서 종류, 제출자, 제출 시각, 동의 버전, 열람로그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5106924"/>
            <a:ext cx="496519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확정적 법률판단, 가입 가능 보장, 점수만 단독 노출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94459" y="5948172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운영의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핵심은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서류를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받는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점수화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가능한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검증값으로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바꾸는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것입니다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임대인 사용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임대인은 좋은 임차인을 더 빨리 고르고 공실·연체 리스크를 줄입니다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임대인에게는 신뢰도 높은 지원자 선별, 조건 협상, 운영 효율이 핵심 가치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0789920" cy="493776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" y="1837943"/>
            <a:ext cx="2487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임대인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5" y="1837943"/>
            <a:ext cx="3630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입주해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8375" y="1737360"/>
            <a:ext cx="45719" cy="296265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03136" y="1837943"/>
            <a:ext cx="44531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얻게 되는 이점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1694" y="1737360"/>
            <a:ext cx="45719" cy="296265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231136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" y="2327148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누가 성실한 임차인인지 모름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3" y="2327148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주거 신뢰점수, 재직/소득 범위, 레퍼런스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3" y="2327148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연체·분쟁 가능성 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24912"/>
            <a:ext cx="10789920" cy="493776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557784" y="2820924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후 관리 부담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3" y="2820924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이행/거주평가/플랫폼 활동 이력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2820924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관리 리스크 예측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18688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557784" y="3314700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공실 기간 부담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8103" y="3314700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신뢰도 기반 우선매칭, 조건 필터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3" y="3314700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 임차인 빠른 매칭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12464"/>
            <a:ext cx="10789920" cy="493776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557784" y="3808476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가격/조건 협상 근거 부족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3" y="3808476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 점수와 조건 시나리오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3808476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 할인 대신 장기계약/보증금 조건 조율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06240"/>
            <a:ext cx="107899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557784" y="4302252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중개사 설명 의존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8103" y="4302252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표준 검증자료와 질문 리스트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3" y="4302252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의사결정 속도 향상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44168" y="595274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임대인에게는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'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높은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월세'보다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'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임차인을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골라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공실·연체·분쟁을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줄이는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것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임차인 사용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임차인은 안전한 임대인과 주택을 고르고 좋은 조건을 제안받습니다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임차인에게는 보증금 리스크 감소와 신뢰 기반 조건 우대가 핵심 가치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0789920" cy="4937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539496" y="1837943"/>
            <a:ext cx="2487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임차인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5" y="1837943"/>
            <a:ext cx="3630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입주해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8375" y="1737360"/>
            <a:ext cx="64008" cy="296265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03136" y="1837943"/>
            <a:ext cx="44531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얻게 되는 이점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1694" y="1737360"/>
            <a:ext cx="64009" cy="296265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231136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" y="2327148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신뢰를 판단하기 어려움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3" y="2327148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주거 신뢰점수, 소유/권리/관리 이력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3" y="2327148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보증금 반환·분쟁 리스크 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24912"/>
            <a:ext cx="10789920" cy="493776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557784" y="2820924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주택 리스크 해석이 어려움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3" y="2820924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주택 위험점수, 등기/건축물/가격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2820924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전 확인할 질문 명확화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18688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557784" y="3314700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 임차인임을 증명하기 어려움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8103" y="3314700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 신뢰 Profile, 레퍼런스, 재직/소득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3" y="3314700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월세 할인, 보증금 완화, 우선계약 후보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12464"/>
            <a:ext cx="10789920" cy="493776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557784" y="3808476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정보 비대칭 때문에 협상력이 낮음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3" y="3808476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상호 점수와 조건 시나리오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3808476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조건 협상 근거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06240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557784" y="4302252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전 불안이 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8103" y="4302252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 리포트와 체크리스트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3" y="4302252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결정 시간 단축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C7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C77423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C7742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63827" y="5955934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임차인에게는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'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안전'과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'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우대'가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동시에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보여야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사용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이유가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생깁니다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중개사 사용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중개사는 설명 책임을 줄이고 신뢰 기반 거래를 더 빨리 성사시킵니다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중개사에게는 표준 검증자료, 상담 효율, 분쟁 예방, 계약 전환율이 핵심 가치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0789920" cy="493776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" y="1837943"/>
            <a:ext cx="2487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중개사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9815" y="1837943"/>
            <a:ext cx="3630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입주해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19" y="1737360"/>
            <a:ext cx="54864" cy="296265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03136" y="1837943"/>
            <a:ext cx="44531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얻게 되는 이점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1694" y="1737360"/>
            <a:ext cx="64009" cy="2962656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231136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" y="2327148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권리관계/주택상태 설명 부담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3" y="2327148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등기·건축물·가격 검증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3" y="2327148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표준화된 설명자료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24912"/>
            <a:ext cx="10789920" cy="493776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557784" y="2820924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고객 질문 대응 시간이 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3" y="2820924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전 질문 리스트, 체크리스트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2820924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상담 시간 단축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18688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557784" y="3314700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후 분쟁 리스크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8103" y="3314700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확인자료, 기준일, 고지/동의 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3" y="3314700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설명 누락과 분쟁 가능성 감소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12464"/>
            <a:ext cx="10789920" cy="493776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557784" y="3808476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 임대인/임차인 매칭 어려움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3" y="3808476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양쪽 주거 신뢰점수 기반 후보 추천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3808476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성사율 향상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06240"/>
            <a:ext cx="10789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557784" y="4302252"/>
            <a:ext cx="2450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차별화된 영업도구 부족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8103" y="4302252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입주해 검증 리포트/프로필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3" y="4302252"/>
            <a:ext cx="44165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신뢰 기반 중개 서비스로 차별화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44168" y="5940623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중개사는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경쟁자가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확산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채널이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될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있습니다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검증자료가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영업도구가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됩니다</a:t>
            </a:r>
            <a:r>
              <a:rPr sz="1050" b="1" dirty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686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입주해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84048"/>
            <a:ext cx="29260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플랫폼 사용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411480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707A89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85800"/>
            <a:ext cx="11018520" cy="9144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50" b="1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세 주체가 모두 이득을 봐야 플랫폼이 굴러갑니다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9601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4A5568"/>
                </a:solidFill>
                <a:latin typeface="Apple SD Gothic Neo"/>
                <a:ea typeface="Apple SD Gothic Neo"/>
                <a:cs typeface="Apple SD Gothic Neo"/>
              </a:rPr>
              <a:t>임차인 안전, 임대인 리스크 감소, 중개사 계약 효율이 같은 데이터 위에서 연결됨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789920" cy="658368"/>
          </a:xfrm>
          <a:prstGeom prst="rect">
            <a:avLst/>
          </a:prstGeom>
          <a:solidFill>
            <a:srgbClr val="0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" y="1883664"/>
            <a:ext cx="93268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1883664"/>
            <a:ext cx="28529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가입/사용 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3896" y="1783080"/>
            <a:ext cx="64008" cy="2633472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1883664"/>
            <a:ext cx="363016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 사용 이유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783080"/>
            <a:ext cx="64008" cy="2633472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1883664"/>
            <a:ext cx="3081528" cy="91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플랫폼에 남는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5" y="1783080"/>
            <a:ext cx="64009" cy="2633472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441448"/>
            <a:ext cx="107899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" name="TextBox 17"/>
          <p:cNvSpPr txBox="1"/>
          <p:nvPr/>
        </p:nvSpPr>
        <p:spPr>
          <a:xfrm>
            <a:off x="557784" y="2537460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임차인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3624" y="2537460"/>
            <a:ext cx="2816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안전한 임대인/주택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537460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 조건을 받기 위해 신뢰 프로필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537460"/>
            <a:ext cx="3044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검증자료, 레퍼런스, 평가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99815"/>
            <a:ext cx="10789920" cy="658368"/>
          </a:xfrm>
          <a:prstGeom prst="rect">
            <a:avLst/>
          </a:prstGeom>
          <a:solidFill>
            <a:srgbClr val="EFF2EE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3" name="TextBox 22"/>
          <p:cNvSpPr txBox="1"/>
          <p:nvPr/>
        </p:nvSpPr>
        <p:spPr>
          <a:xfrm>
            <a:off x="557784" y="3195827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3624" y="3195827"/>
            <a:ext cx="2816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좋은 임차인 선별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3195827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공실/연체/분쟁 감소를 위해 후보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195827"/>
            <a:ext cx="3044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임대인 평가, 관리 대응, 매물 신뢰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58184"/>
            <a:ext cx="107899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557784" y="3854196"/>
            <a:ext cx="89611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중개사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3624" y="3854196"/>
            <a:ext cx="28163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검증자료로 상담 효율화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854196"/>
            <a:ext cx="3593591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계약 전환율과 고객 신뢰 향상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3854196"/>
            <a:ext cx="304495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C121C"/>
                </a:solidFill>
                <a:latin typeface="Apple SD Gothic Neo"/>
                <a:ea typeface="Apple SD Gothic Neo"/>
                <a:cs typeface="Apple SD Gothic Neo"/>
              </a:rPr>
              <a:t>거래 질문, 검증 요청, 계약 결과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824728"/>
            <a:ext cx="108813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824728"/>
            <a:ext cx="7315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952744"/>
            <a:ext cx="384048" cy="109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dirty="0" err="1">
                <a:solidFill>
                  <a:srgbClr val="0089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endParaRPr sz="800" b="1" dirty="0">
              <a:solidFill>
                <a:srgbClr val="00897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61872" y="5971032"/>
            <a:ext cx="9464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r>
              <a:rPr lang="ko-KR" altLang="en-US" sz="1050" b="1" dirty="0">
                <a:latin typeface="Apple SD Gothic Neo"/>
                <a:ea typeface="Apple SD Gothic Neo"/>
                <a:cs typeface="Apple SD Gothic Neo"/>
              </a:rPr>
              <a:t>검증 데이터가 쌓일수록 점수 정확도가 올라가고</a:t>
            </a:r>
            <a:r>
              <a:rPr lang="en-US" altLang="ko-KR" sz="1050" b="1" dirty="0"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50" b="1" dirty="0">
                <a:latin typeface="Apple SD Gothic Neo"/>
                <a:ea typeface="Apple SD Gothic Neo"/>
                <a:cs typeface="Apple SD Gothic Neo"/>
              </a:rPr>
              <a:t>점수가 좋아질수록 거래조건과 매칭 품질이 좋아집니다</a:t>
            </a:r>
            <a:r>
              <a:rPr lang="en-US" altLang="ko-KR" sz="1050" b="1" dirty="0"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363227-D7C6-2A45-9D6D-9754F8B1CF7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9f8ef47-9688-42aa-b08a-f0dfcaddfb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2326</Words>
  <Application>Microsoft Macintosh PowerPoint</Application>
  <PresentationFormat>와이드스크린</PresentationFormat>
  <Paragraphs>434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입주해 발표자료</dc:title>
  <dc:subject>주거 신뢰 플랫폼 입주해</dc:subject>
  <dc:creator>김다운</dc:creator>
  <cp:keywords>입주해, 주거 신뢰 플랫폼, 멘토링, 특허, 상표, 기술임치</cp:keywords>
  <dc:description>generated using python-pptx</dc:description>
  <cp:lastModifiedBy>27173</cp:lastModifiedBy>
  <cp:revision>42</cp:revision>
  <dcterms:created xsi:type="dcterms:W3CDTF">2013-01-27T09:14:16Z</dcterms:created>
  <dcterms:modified xsi:type="dcterms:W3CDTF">2026-06-28T13:54:47Z</dcterms:modified>
  <cp:category/>
</cp:coreProperties>
</file>